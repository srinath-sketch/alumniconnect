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</p:sldIdLst>
  <p:sldSz cx="14630400" cy="8229600"/>
  <p:notesSz cx="8229600" cy="14630400"/>
  <p:embeddedFontLst>
    <p:embeddedFont>
      <p:font typeface="Quattrocento" panose="02020502030000000404" pitchFamily="18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035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87078"/>
            <a:ext cx="9016678" cy="3438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Bridging the Gap:</a:t>
            </a:r>
          </a:p>
          <a:p>
            <a:pPr marL="0" indent="0" algn="ctr">
              <a:lnSpc>
                <a:spcPts val="5500"/>
              </a:lnSpc>
              <a:buNone/>
            </a:pPr>
            <a:endParaRPr lang="en-US" sz="4400" dirty="0">
              <a:solidFill>
                <a:srgbClr val="FFD9BE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 University Alumni Connect Web App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584263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proposal for a dynamic, multi-faceted platform designed to foster stronger connections between current students and successful alumni, enhancing career opportunities and community engagement.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9890" y="1416129"/>
            <a:ext cx="1074253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Mission: Strengthening the University Ecosystem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2401610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goal is to create a vibrant digital hub that serves as a continuous resource for students and a valuable channel for alumni to give back to the institution. This platform is built on three core pillars: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37724" y="4056578"/>
            <a:ext cx="12954952" cy="2193608"/>
          </a:xfrm>
          <a:prstGeom prst="roundRect">
            <a:avLst>
              <a:gd name="adj" fmla="val 1637"/>
            </a:avLst>
          </a:prstGeom>
          <a:solidFill>
            <a:srgbClr val="315251"/>
          </a:solidFill>
          <a:ln/>
        </p:spPr>
      </p:sp>
      <p:sp>
        <p:nvSpPr>
          <p:cNvPr id="5" name="Shape 3"/>
          <p:cNvSpPr/>
          <p:nvPr/>
        </p:nvSpPr>
        <p:spPr>
          <a:xfrm>
            <a:off x="837724" y="4056578"/>
            <a:ext cx="4318278" cy="2193608"/>
          </a:xfrm>
          <a:prstGeom prst="roundRect">
            <a:avLst>
              <a:gd name="adj" fmla="val 1637"/>
            </a:avLst>
          </a:prstGeom>
          <a:solidFill>
            <a:srgbClr val="315251"/>
          </a:solidFill>
          <a:ln/>
        </p:spPr>
      </p:sp>
      <p:sp>
        <p:nvSpPr>
          <p:cNvPr id="6" name="Text 4"/>
          <p:cNvSpPr/>
          <p:nvPr/>
        </p:nvSpPr>
        <p:spPr>
          <a:xfrm>
            <a:off x="1077039" y="4295894"/>
            <a:ext cx="3420904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Fostering Connections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77039" y="4861798"/>
            <a:ext cx="348055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Facilitating meaningful professional networking between the two groups.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156002" y="4056578"/>
            <a:ext cx="4318278" cy="2193608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9" name="Shape 7"/>
          <p:cNvSpPr/>
          <p:nvPr/>
        </p:nvSpPr>
        <p:spPr>
          <a:xfrm>
            <a:off x="5156002" y="4056578"/>
            <a:ext cx="30480" cy="2193608"/>
          </a:xfrm>
          <a:prstGeom prst="roundRect">
            <a:avLst>
              <a:gd name="adj" fmla="val 117806"/>
            </a:avLst>
          </a:prstGeom>
          <a:solidFill>
            <a:srgbClr val="4A6B6A"/>
          </a:solidFill>
          <a:ln/>
        </p:spPr>
      </p:sp>
      <p:sp>
        <p:nvSpPr>
          <p:cNvPr id="10" name="Text 8"/>
          <p:cNvSpPr/>
          <p:nvPr/>
        </p:nvSpPr>
        <p:spPr>
          <a:xfrm>
            <a:off x="5754410" y="4295894"/>
            <a:ext cx="3121462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Enhancing Careers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754410" y="4861798"/>
            <a:ext cx="31214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Providing exclusive access to jobs, internships, and mentorship opportunities.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856798" y="4854178"/>
            <a:ext cx="598408" cy="598408"/>
          </a:xfrm>
          <a:prstGeom prst="roundRect">
            <a:avLst>
              <a:gd name="adj" fmla="val 6000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6340" y="5003721"/>
            <a:ext cx="299204" cy="2992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474279" y="4056578"/>
            <a:ext cx="4318278" cy="2193608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15" name="Shape 12"/>
          <p:cNvSpPr/>
          <p:nvPr/>
        </p:nvSpPr>
        <p:spPr>
          <a:xfrm>
            <a:off x="9474279" y="4056578"/>
            <a:ext cx="30480" cy="2193608"/>
          </a:xfrm>
          <a:prstGeom prst="roundRect">
            <a:avLst>
              <a:gd name="adj" fmla="val 117806"/>
            </a:avLst>
          </a:prstGeom>
          <a:solidFill>
            <a:srgbClr val="4A6B6A"/>
          </a:solidFill>
          <a:ln/>
        </p:spPr>
      </p:sp>
      <p:sp>
        <p:nvSpPr>
          <p:cNvPr id="16" name="Text 13"/>
          <p:cNvSpPr/>
          <p:nvPr/>
        </p:nvSpPr>
        <p:spPr>
          <a:xfrm>
            <a:off x="10072688" y="4295894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Building Community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10072688" y="4861798"/>
            <a:ext cx="348055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Creating a centralised space for university events and updates.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9175075" y="4854178"/>
            <a:ext cx="598408" cy="598408"/>
          </a:xfrm>
          <a:prstGeom prst="roundRect">
            <a:avLst>
              <a:gd name="adj" fmla="val 6000"/>
            </a:avLst>
          </a:prstGeom>
          <a:solidFill>
            <a:srgbClr val="123332"/>
          </a:solidFill>
          <a:ln w="30480">
            <a:solidFill>
              <a:srgbClr val="4A6B6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4618" y="5003721"/>
            <a:ext cx="299204" cy="2992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423" y="565785"/>
            <a:ext cx="10243185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Technological Foundation: Robust and Scalable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8423" y="1580078"/>
            <a:ext cx="13193554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Our application is built using a modern, reliable, and scalable technology stack to ensure performance, security, and a seamless user experience across all devices.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8423" y="2467689"/>
            <a:ext cx="6494145" cy="615791"/>
          </a:xfrm>
          <a:prstGeom prst="roundRect">
            <a:avLst>
              <a:gd name="adj" fmla="val 480054"/>
            </a:avLst>
          </a:prstGeom>
          <a:solidFill>
            <a:srgbClr val="31525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1548" y="2621637"/>
            <a:ext cx="307896" cy="307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3687" y="3288744"/>
            <a:ext cx="241506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Front-end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23687" y="3713678"/>
            <a:ext cx="608361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HTML5, CSS3, JavaScript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17832" y="2467689"/>
            <a:ext cx="6494145" cy="615791"/>
          </a:xfrm>
          <a:prstGeom prst="roundRect">
            <a:avLst>
              <a:gd name="adj" fmla="val 480054"/>
            </a:avLst>
          </a:prstGeom>
          <a:solidFill>
            <a:srgbClr val="31525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0957" y="2621637"/>
            <a:ext cx="307896" cy="307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23096" y="3288744"/>
            <a:ext cx="241506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Back-end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623096" y="3713678"/>
            <a:ext cx="608361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Django (Python Framework)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18423" y="4452580"/>
            <a:ext cx="6494145" cy="615791"/>
          </a:xfrm>
          <a:prstGeom prst="roundRect">
            <a:avLst>
              <a:gd name="adj" fmla="val 480054"/>
            </a:avLst>
          </a:prstGeom>
          <a:solidFill>
            <a:srgbClr val="31525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1548" y="4606528"/>
            <a:ext cx="307896" cy="307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3687" y="5273635"/>
            <a:ext cx="241506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923687" y="5698569"/>
            <a:ext cx="608361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Firebase for Real-time Data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417832" y="4452580"/>
            <a:ext cx="6494145" cy="615791"/>
          </a:xfrm>
          <a:prstGeom prst="roundRect">
            <a:avLst>
              <a:gd name="adj" fmla="val 480054"/>
            </a:avLst>
          </a:prstGeom>
          <a:solidFill>
            <a:srgbClr val="31525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10957" y="4606528"/>
            <a:ext cx="307896" cy="307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23096" y="5273635"/>
            <a:ext cx="241506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Authentication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623096" y="5698569"/>
            <a:ext cx="6083618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LinkedIn OAuth for seamless, verified login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18423" y="6463070"/>
            <a:ext cx="13193554" cy="1200626"/>
          </a:xfrm>
          <a:prstGeom prst="roundRect">
            <a:avLst>
              <a:gd name="adj" fmla="val 2565"/>
            </a:avLst>
          </a:prstGeom>
          <a:solidFill>
            <a:srgbClr val="44170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687" y="6760964"/>
            <a:ext cx="256580" cy="2052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85530" y="6719649"/>
            <a:ext cx="12321183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Leveraging Django ensures rapid development and high security, while Firebase supports the real-time functionality of the chat system.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808" y="442198"/>
            <a:ext cx="9296638" cy="472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Platform Architecture: Three Distinct User Experiences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62808" y="1023152"/>
            <a:ext cx="13504783" cy="110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400" dirty="0">
              <a:solidFill>
                <a:srgbClr val="F9EEE7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web application is structured around three primary user roles, each with a tailored interface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specific functionalities to meet their unique needs.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70" y="1674852"/>
            <a:ext cx="13286542" cy="7519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82819" y="3133129"/>
            <a:ext cx="2859632" cy="35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Student Page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982819" y="3490372"/>
            <a:ext cx="4659140" cy="715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(Communication with</a:t>
            </a:r>
          </a:p>
          <a:p>
            <a:pPr marL="0" indent="0" algn="ctr">
              <a:lnSpc>
                <a:spcPts val="1350"/>
              </a:lnSpc>
              <a:buNone/>
            </a:pPr>
            <a:endParaRPr lang="en-US" sz="2400" dirty="0">
              <a:solidFill>
                <a:srgbClr val="F9EEE7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240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alumnus,events,Alumni</a:t>
            </a:r>
            <a:endParaRPr lang="en-US" sz="2400" dirty="0">
              <a:solidFill>
                <a:srgbClr val="F9EEE7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endParaRPr lang="en-US" sz="2400" dirty="0">
              <a:solidFill>
                <a:srgbClr val="F9EEE7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directory.)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9043" y="3132285"/>
            <a:ext cx="405143" cy="405143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2073" y="4617808"/>
            <a:ext cx="405143" cy="4051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87513" y="4618652"/>
            <a:ext cx="2859632" cy="35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Alumni Page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988005" y="5083933"/>
            <a:ext cx="4659140" cy="60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(connecting with</a:t>
            </a:r>
          </a:p>
          <a:p>
            <a:pPr marL="0" indent="0" algn="r">
              <a:lnSpc>
                <a:spcPts val="1350"/>
              </a:lnSpc>
              <a:buNone/>
            </a:pPr>
            <a:endParaRPr lang="en-US" sz="2400" dirty="0">
              <a:solidFill>
                <a:srgbClr val="F9EEE7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r">
              <a:lnSpc>
                <a:spcPts val="13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240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students,events,posting</a:t>
            </a: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job</a:t>
            </a:r>
          </a:p>
          <a:p>
            <a:pPr marL="0" indent="0" algn="r">
              <a:lnSpc>
                <a:spcPts val="1350"/>
              </a:lnSpc>
              <a:buNone/>
            </a:pPr>
            <a:endParaRPr lang="en-US" sz="2400" dirty="0">
              <a:solidFill>
                <a:srgbClr val="F9EEE7"/>
              </a:solidFill>
              <a:latin typeface="Quattrocento" pitchFamily="34" charset="0"/>
              <a:ea typeface="Quattrocento" pitchFamily="34" charset="-122"/>
              <a:cs typeface="Quattrocento" pitchFamily="34" charset="-120"/>
            </a:endParaRPr>
          </a:p>
          <a:p>
            <a:pPr marL="0" indent="0" algn="r">
              <a:lnSpc>
                <a:spcPts val="13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offerings/internships)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8982819" y="6117680"/>
            <a:ext cx="2859632" cy="35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Admin Page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982819" y="6582961"/>
            <a:ext cx="4659140" cy="303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(Manage users, content, and settings.)</a:t>
            </a:r>
            <a:endParaRPr lang="en-US" sz="2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9043" y="6103331"/>
            <a:ext cx="405143" cy="405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333" y="575548"/>
            <a:ext cx="7192089" cy="48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Student Page: Navigating Career Pathways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2333" y="1465302"/>
            <a:ext cx="2636282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Features for Students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2333" y="1917263"/>
            <a:ext cx="7237571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student interface is focused on connectivity, learning, and engagement, ensuring they have the tools to launch their professional lives.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2333" y="2869882"/>
            <a:ext cx="7237571" cy="1260872"/>
          </a:xfrm>
          <a:prstGeom prst="roundRect">
            <a:avLst>
              <a:gd name="adj" fmla="val 8703"/>
            </a:avLst>
          </a:prstGeom>
          <a:solidFill>
            <a:srgbClr val="123332"/>
          </a:solidFill>
          <a:ln/>
        </p:spPr>
      </p:sp>
      <p:sp>
        <p:nvSpPr>
          <p:cNvPr id="6" name="Shape 4"/>
          <p:cNvSpPr/>
          <p:nvPr/>
        </p:nvSpPr>
        <p:spPr>
          <a:xfrm>
            <a:off x="572333" y="2847023"/>
            <a:ext cx="7237571" cy="91440"/>
          </a:xfrm>
          <a:prstGeom prst="roundRect">
            <a:avLst>
              <a:gd name="adj" fmla="val 26830"/>
            </a:avLst>
          </a:prstGeom>
          <a:solidFill>
            <a:srgbClr val="EF9C82"/>
          </a:solidFill>
          <a:ln/>
        </p:spPr>
      </p:sp>
      <p:sp>
        <p:nvSpPr>
          <p:cNvPr id="7" name="Shape 5"/>
          <p:cNvSpPr/>
          <p:nvPr/>
        </p:nvSpPr>
        <p:spPr>
          <a:xfrm>
            <a:off x="3945791" y="2624614"/>
            <a:ext cx="490657" cy="490657"/>
          </a:xfrm>
          <a:prstGeom prst="roundRect">
            <a:avLst>
              <a:gd name="adj" fmla="val 186362"/>
            </a:avLst>
          </a:prstGeom>
          <a:solidFill>
            <a:srgbClr val="EF9C8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2952" y="2771775"/>
            <a:ext cx="196215" cy="196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666" y="3278743"/>
            <a:ext cx="192416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Direct Chat System: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58666" y="3682722"/>
            <a:ext cx="6864906" cy="572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Connect instantly with alumni mentors for advice,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guidance, and industry insights.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72333" y="4539496"/>
            <a:ext cx="7237571" cy="1260872"/>
          </a:xfrm>
          <a:prstGeom prst="roundRect">
            <a:avLst>
              <a:gd name="adj" fmla="val 8703"/>
            </a:avLst>
          </a:prstGeom>
          <a:solidFill>
            <a:srgbClr val="123332"/>
          </a:solidFill>
          <a:ln/>
        </p:spPr>
      </p:sp>
      <p:sp>
        <p:nvSpPr>
          <p:cNvPr id="12" name="Shape 9"/>
          <p:cNvSpPr/>
          <p:nvPr/>
        </p:nvSpPr>
        <p:spPr>
          <a:xfrm>
            <a:off x="572333" y="4516636"/>
            <a:ext cx="7237571" cy="91440"/>
          </a:xfrm>
          <a:prstGeom prst="roundRect">
            <a:avLst>
              <a:gd name="adj" fmla="val 26830"/>
            </a:avLst>
          </a:prstGeom>
          <a:solidFill>
            <a:srgbClr val="EF9C82"/>
          </a:solidFill>
          <a:ln/>
        </p:spPr>
      </p:sp>
      <p:sp>
        <p:nvSpPr>
          <p:cNvPr id="13" name="Shape 10"/>
          <p:cNvSpPr/>
          <p:nvPr/>
        </p:nvSpPr>
        <p:spPr>
          <a:xfrm>
            <a:off x="3945791" y="4294227"/>
            <a:ext cx="490657" cy="490657"/>
          </a:xfrm>
          <a:prstGeom prst="roundRect">
            <a:avLst>
              <a:gd name="adj" fmla="val 186362"/>
            </a:avLst>
          </a:prstGeom>
          <a:solidFill>
            <a:srgbClr val="EF9C8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2952" y="4441388"/>
            <a:ext cx="196215" cy="1962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666" y="4948357"/>
            <a:ext cx="192416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Events Calendar: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58666" y="5352336"/>
            <a:ext cx="6864906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Stay updated on career workshops, alumni meetups, 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and university functions.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572333" y="6209109"/>
            <a:ext cx="7237571" cy="1260872"/>
          </a:xfrm>
          <a:prstGeom prst="roundRect">
            <a:avLst>
              <a:gd name="adj" fmla="val 8703"/>
            </a:avLst>
          </a:prstGeom>
          <a:solidFill>
            <a:srgbClr val="123332"/>
          </a:solidFill>
          <a:ln/>
        </p:spPr>
      </p:sp>
      <p:sp>
        <p:nvSpPr>
          <p:cNvPr id="18" name="Shape 14"/>
          <p:cNvSpPr/>
          <p:nvPr/>
        </p:nvSpPr>
        <p:spPr>
          <a:xfrm>
            <a:off x="572333" y="6186249"/>
            <a:ext cx="7237571" cy="91440"/>
          </a:xfrm>
          <a:prstGeom prst="roundRect">
            <a:avLst>
              <a:gd name="adj" fmla="val 26830"/>
            </a:avLst>
          </a:prstGeom>
          <a:solidFill>
            <a:srgbClr val="EF9C82"/>
          </a:solidFill>
          <a:ln/>
        </p:spPr>
      </p:sp>
      <p:sp>
        <p:nvSpPr>
          <p:cNvPr id="19" name="Shape 15"/>
          <p:cNvSpPr/>
          <p:nvPr/>
        </p:nvSpPr>
        <p:spPr>
          <a:xfrm>
            <a:off x="3945791" y="5963841"/>
            <a:ext cx="490657" cy="490657"/>
          </a:xfrm>
          <a:prstGeom prst="roundRect">
            <a:avLst>
              <a:gd name="adj" fmla="val 186362"/>
            </a:avLst>
          </a:prstGeom>
          <a:solidFill>
            <a:srgbClr val="EF9C8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2952" y="6111002"/>
            <a:ext cx="196215" cy="196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8666" y="6617970"/>
            <a:ext cx="192416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Detailed Profile: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758666" y="7021949"/>
            <a:ext cx="6864906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Showcase academic achievements, skills, and career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interests to attract alumni connections.</a:t>
            </a:r>
            <a:endParaRPr lang="en-US" sz="2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6384" y="1485781"/>
            <a:ext cx="5849183" cy="5849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824" y="540425"/>
            <a:ext cx="7377232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Alumni Page: Give Back and Recruit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2709" y="1281260"/>
            <a:ext cx="13931001" cy="56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alumni interface leverages their professional experience, offering them powerful tools for recruitment, mentorship,</a:t>
            </a:r>
          </a:p>
          <a:p>
            <a:pPr marL="0" indent="0" algn="ctr">
              <a:lnSpc>
                <a:spcPts val="245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community service.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24" y="2046923"/>
            <a:ext cx="4254460" cy="4254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7824" y="6497836"/>
            <a:ext cx="2312075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u="sng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Networking &amp; Chat</a:t>
            </a:r>
            <a:endParaRPr lang="en-US" sz="2400" u="sng" dirty="0"/>
          </a:p>
        </p:txBody>
      </p:sp>
      <p:sp>
        <p:nvSpPr>
          <p:cNvPr id="6" name="Text 3"/>
          <p:cNvSpPr/>
          <p:nvPr/>
        </p:nvSpPr>
        <p:spPr>
          <a:xfrm>
            <a:off x="687824" y="6904673"/>
            <a:ext cx="4254460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Maintain and expand professional networks while offering guidance to current students.</a:t>
            </a: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7910" y="2046923"/>
            <a:ext cx="4254460" cy="4254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7910" y="6497836"/>
            <a:ext cx="2630686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u="sng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Job &amp; Internship Postings</a:t>
            </a:r>
            <a:endParaRPr lang="en-US" sz="2400" u="sng" dirty="0"/>
          </a:p>
        </p:txBody>
      </p:sp>
      <p:sp>
        <p:nvSpPr>
          <p:cNvPr id="9" name="Text 5"/>
          <p:cNvSpPr/>
          <p:nvPr/>
        </p:nvSpPr>
        <p:spPr>
          <a:xfrm>
            <a:off x="5187910" y="6904673"/>
            <a:ext cx="4254460" cy="9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Directly post exclusive job and internship openings within their companies to the student body.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7997" y="2046923"/>
            <a:ext cx="4254460" cy="4254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7997" y="6497836"/>
            <a:ext cx="2312075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u="sng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Events &amp; Profile</a:t>
            </a:r>
            <a:endParaRPr lang="en-US" sz="2400" u="sng" dirty="0"/>
          </a:p>
        </p:txBody>
      </p:sp>
      <p:sp>
        <p:nvSpPr>
          <p:cNvPr id="12" name="Text 7"/>
          <p:cNvSpPr/>
          <p:nvPr/>
        </p:nvSpPr>
        <p:spPr>
          <a:xfrm>
            <a:off x="9687997" y="6904673"/>
            <a:ext cx="4254460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Manage personal profile details and RSVP for alumni-specific and university-wide events.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590" y="567809"/>
            <a:ext cx="11509534" cy="607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Admin Page: Centralized Management and Oversight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22590" y="1588056"/>
            <a:ext cx="13185219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Admin page ensures the smooth and secure operation of the entire platform, providing tools for user management and content moderation.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90" y="2713196"/>
            <a:ext cx="4971812" cy="49718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05657" y="2713196"/>
            <a:ext cx="464582" cy="464582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6876693" y="2784158"/>
            <a:ext cx="2838212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Vetting and Approval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76693" y="3294221"/>
            <a:ext cx="3054787" cy="132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Manage student and alumni verification processes to maintain a trusted professional environment.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0189488" y="2713196"/>
            <a:ext cx="464582" cy="464582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10860524" y="2784158"/>
            <a:ext cx="242911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Content Moderation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860524" y="3294221"/>
            <a:ext cx="3054787" cy="99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and approve all job postings, events, and potentially sensitive communications.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205657" y="5028248"/>
            <a:ext cx="464582" cy="464582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6876693" y="5099209"/>
            <a:ext cx="242911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Monitoring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76693" y="5609273"/>
            <a:ext cx="7038618" cy="660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Oversee technical performance, user activity, and troubleshoot any platform issues.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85324"/>
            <a:ext cx="1097553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Conclusion: Key Benefits for Future Growth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6809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This platform is more than just a web app; it is an investment in the future success of our students and the enduring strength of the alumni network.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142655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 Students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37724" y="380428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Direct access to industry professionals and verified job opportunities.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654034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Enhanced career preparedness through mentorship and real-world exposure.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503783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Seamless transition from academia to professional life.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3142655"/>
            <a:ext cx="3663196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For Alumni &amp; University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614761" y="380428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Efficient, targeted recruitment channel for top university talent.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4654034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Increased alumni loyalty and opportunities for philanthropic engagement.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5503783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Strengthened university reputation and value proposition for prospective students.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196697" y="6891933"/>
            <a:ext cx="12595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Alumni Connect Web App will transform our community connections into tangible career capital.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6622733"/>
            <a:ext cx="30480" cy="921425"/>
          </a:xfrm>
          <a:prstGeom prst="rect">
            <a:avLst/>
          </a:prstGeom>
          <a:solidFill>
            <a:srgbClr val="EF9C8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641</Words>
  <Application>Microsoft Office PowerPoint</Application>
  <PresentationFormat>Custom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Quattrocento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G.SRINATH</dc:creator>
  <cp:lastModifiedBy>SRINATH G</cp:lastModifiedBy>
  <cp:revision>3</cp:revision>
  <dcterms:created xsi:type="dcterms:W3CDTF">2025-11-01T07:34:46Z</dcterms:created>
  <dcterms:modified xsi:type="dcterms:W3CDTF">2025-11-21T13:25:25Z</dcterms:modified>
</cp:coreProperties>
</file>